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800" b="1">
                <a:solidFill>
                  <a:srgbClr val="FFFFFF"/>
                </a:solidFill>
                <a:latin typeface="Calibri"/>
              </a:rPr>
              <a:t>clipsmith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383280"/>
            <a:ext cx="548640" cy="73152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Calibri"/>
              </a:rPr>
              <a:t>Where creators build careers, not just followings.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CCD8E6"/>
                </a:solidFill>
                <a:latin typeface="Calibri"/>
              </a:rPr>
              <a:t>AI-native short-form video, creator-first economics, professional editing in your pocket.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$3.5M seed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9377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18-month runway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93776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iOS launch 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9A8C0"/>
                </a:solidFill>
                <a:latin typeface="Calibri"/>
              </a:rPr>
              <a:t>Confidential investor materials · prepared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Short-form video became a billboard for ads, not a career for creators.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611880" cy="164592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Opaque payouts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F6D"/>
                </a:solidFill>
                <a:latin typeface="Calibri"/>
              </a:rPr>
              <a:t>TikTok's Creator Fund pays $0.02–$0.04 per 1,000 views. Most creators have no idea what they will be paid until the cheque clears.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E0E5EE"/>
                </a:solidFill>
                <a:latin typeface="Calibri"/>
              </a:rPr>
              <a:t>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3611880" cy="164592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2402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Toy-grade editing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2608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F6D"/>
                </a:solidFill>
                <a:latin typeface="Calibri"/>
              </a:rPr>
              <a:t>In-app editors stop at trim + filters. Anyone serious exports to CapCut, Premiere, or Final Cut. The market splits the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212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E0E5EE"/>
                </a:solidFill>
                <a:latin typeface="Calibri"/>
              </a:rPr>
              <a:t>#2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611880" cy="164592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No path to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92608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F6D"/>
                </a:solidFill>
                <a:latin typeface="Calibri"/>
              </a:rPr>
              <a:t>Sub-100k creators can't tip, can't sub, can't sell. Brand-deal matching is a Discord DM, not a marketplace.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212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E0E5EE"/>
                </a:solidFill>
                <a:latin typeface="Calibri"/>
              </a:rPr>
              <a:t>#3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02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An AI-native, creator-first video platform — built end-to-end, not bolted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194560"/>
            <a:ext cx="548640" cy="548640"/>
          </a:xfrm>
          <a:prstGeom prst="ellipse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240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Calibri"/>
              </a:rPr>
              <a:t>Pro editor in 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55F6D"/>
                </a:solidFill>
                <a:latin typeface="Calibri"/>
              </a:rPr>
              <a:t>Multi-track timeline, AI captions, scene detection, voice de-noise, BG removal, chroma-key — all on-device or server-side, no export.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600" y="2194560"/>
            <a:ext cx="548640" cy="548640"/>
          </a:xfrm>
          <a:prstGeom prst="ellipse">
            <a:avLst/>
          </a:prstGeom>
          <a:solidFill>
            <a:srgbClr val="FF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240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Calibri"/>
              </a:rPr>
              <a:t>Transparent 70/30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089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55F6D"/>
                </a:solidFill>
                <a:latin typeface="Calibri"/>
              </a:rPr>
              <a:t>Tipping (Stripe), subscriptions (Apple IAP), brand-deals, premium content. Creators see exactly which signal earned them what.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2194560"/>
            <a:ext cx="548640" cy="548640"/>
          </a:xfrm>
          <a:prstGeom prst="ellipse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240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1F3A"/>
                </a:solidFill>
                <a:latin typeface="Calibri"/>
              </a:rPr>
              <a:t>Discovery you can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1089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55F6D"/>
                </a:solidFill>
                <a:latin typeface="Calibri"/>
              </a:rPr>
              <a:t>Algorithm exposes the four feature scores per video — interest, virality, freshness, community — so creators can optimise without guessing.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035040"/>
            <a:ext cx="10698480" cy="36576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30k LOC backend · 14k LOC frontend · 90 SQL tables · 498 unit + 10 e2e tests · 5 architectural contracts · all CI 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03 ·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The market just hit the inflection. Bottoms-up, every signal points the same way.</a:t>
            </a:r>
          </a:p>
        </p:txBody>
      </p:sp>
      <p:pic>
        <p:nvPicPr>
          <p:cNvPr id="6" name="Picture 5" descr="trend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858000" cy="3661848"/>
          </a:xfrm>
          <a:prstGeom prst="rect">
            <a:avLst/>
          </a:prstGeom>
        </p:spPr>
      </p:pic>
      <p:pic>
        <p:nvPicPr>
          <p:cNvPr id="7" name="Picture 6" descr="creator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06240"/>
            <a:ext cx="6858000" cy="36618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17830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783080"/>
            <a:ext cx="109728" cy="9601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F3D7F"/>
                </a:solidFill>
                <a:latin typeface="Calibri"/>
              </a:rPr>
              <a:t>$540B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F6D"/>
                </a:solidFill>
                <a:latin typeface="Calibri"/>
              </a:rPr>
              <a:t>short-form ad spend by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9260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926080"/>
            <a:ext cx="109728" cy="960120"/>
          </a:xfrm>
          <a:prstGeom prst="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971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29B6F6"/>
                </a:solidFill>
                <a:latin typeface="Calibri"/>
              </a:rPr>
              <a:t>545M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29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F6D"/>
                </a:solidFill>
                <a:latin typeface="Calibri"/>
              </a:rPr>
              <a:t>creators monetising by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40690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069080"/>
            <a:ext cx="109728" cy="960120"/>
          </a:xfrm>
          <a:prstGeom prst="rect">
            <a:avLst/>
          </a:prstGeom>
          <a:solidFill>
            <a:srgbClr val="F7B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114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F7B731"/>
                </a:solidFill>
                <a:latin typeface="Calibri"/>
              </a:rPr>
              <a:t>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572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F6D"/>
                </a:solidFill>
                <a:latin typeface="Calibri"/>
              </a:rPr>
              <a:t>TikTok-share at risk to creator-revolt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2120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5212080"/>
            <a:ext cx="109728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5257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B1F3A"/>
                </a:solidFill>
                <a:latin typeface="Calibri"/>
              </a:rPr>
              <a:t>9-10mo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715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F6D"/>
                </a:solidFill>
                <a:latin typeface="Calibri"/>
              </a:rPr>
              <a:t>to ship full-stack vs. legacy 24mo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04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Three surfaces, one codebase — feed, edit, monetise.</a:t>
            </a:r>
          </a:p>
        </p:txBody>
      </p:sp>
      <p:pic>
        <p:nvPicPr>
          <p:cNvPr id="6" name="Picture 5" descr="phone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215249" cy="4572000"/>
          </a:xfrm>
          <a:prstGeom prst="rect">
            <a:avLst/>
          </a:prstGeom>
        </p:spPr>
      </p:pic>
      <p:pic>
        <p:nvPicPr>
          <p:cNvPr id="7" name="Picture 6" descr="phone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2215249" cy="4572000"/>
          </a:xfrm>
          <a:prstGeom prst="rect">
            <a:avLst/>
          </a:prstGeom>
        </p:spPr>
      </p:pic>
      <p:pic>
        <p:nvPicPr>
          <p:cNvPr id="8" name="Picture 7" descr="phone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645920"/>
            <a:ext cx="2215249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263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263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263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05 ·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$300B TAM. $60B SAM. We need 0.5% to be a unicorn.</a:t>
            </a:r>
          </a:p>
        </p:txBody>
      </p:sp>
      <p:pic>
        <p:nvPicPr>
          <p:cNvPr id="6" name="Picture 5" descr="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315200" cy="36483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737360"/>
            <a:ext cx="3749039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B1F3A"/>
                </a:solidFill>
                <a:latin typeface="Calibri"/>
              </a:rPr>
              <a:t>How we scale into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377440"/>
            <a:ext cx="731520" cy="36576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41401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88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55F6D"/>
                </a:solidFill>
                <a:latin typeface="Calibri"/>
              </a:rPr>
              <a:t>iOS launch, EN markets, niche-down to one creator vertical (lifestyle / cooking).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520440"/>
            <a:ext cx="731520" cy="36576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55701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931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55F6D"/>
                </a:solidFill>
                <a:latin typeface="Calibri"/>
              </a:rPr>
              <a:t>Android + Web, Spanish + Portuguese localisation. Brand marketplace GA.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663440"/>
            <a:ext cx="731520" cy="36576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70001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Year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074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55F6D"/>
                </a:solidFill>
                <a:latin typeface="Calibri"/>
              </a:rPr>
              <a:t>International — Europe + LATAM. Creator Fund 2.0 at scale, ~$100M paid 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06 ·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Four revenue streams. Diversified by design.</a:t>
            </a:r>
          </a:p>
        </p:txBody>
      </p:sp>
      <p:pic>
        <p:nvPicPr>
          <p:cNvPr id="6" name="Picture 5" descr="unit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858000" cy="35086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737360"/>
            <a:ext cx="40233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B1F3A"/>
                </a:solidFill>
                <a:latin typeface="Calibri"/>
              </a:rPr>
              <a:t>Take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377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B1F3A"/>
                </a:solidFill>
                <a:latin typeface="Calibri"/>
              </a:rPr>
              <a:t>Tipping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3D7F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67004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Stripe Connect, identifiable humans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246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B1F3A"/>
                </a:solidFill>
                <a:latin typeface="Calibri"/>
              </a:rPr>
              <a:t>Subscriptions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246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3D7F"/>
                </a:solidFill>
                <a:latin typeface="Calibri"/>
              </a:rPr>
              <a:t>30% (Apple); 5% (web)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538727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Apple IAP for iOS, Stripe for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B1F3A"/>
                </a:solidFill>
                <a:latin typeface="Calibri"/>
              </a:rPr>
              <a:t>Brand deals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114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3D7F"/>
                </a:solidFill>
                <a:latin typeface="Calibri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4074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Marketplace fee, escrow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834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B1F3A"/>
                </a:solidFill>
                <a:latin typeface="Calibri"/>
              </a:rPr>
              <a:t>Premium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9834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3D7F"/>
                </a:solidFill>
                <a:latin typeface="Calibri"/>
              </a:rPr>
              <a:t>30% (Apple); 15% (web)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760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Same routing as subs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07 · Traction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Code-complete. 6 architectural phases shipped. CI green. Month 0 = today.</a:t>
            </a:r>
          </a:p>
        </p:txBody>
      </p:sp>
      <p:pic>
        <p:nvPicPr>
          <p:cNvPr id="6" name="Picture 5" descr="traction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51450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5650992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Phases 0-6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5650992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498 unit tests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5650992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import-linter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5650992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FFmpeg pipeline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5650992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FF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Stripe + IAP 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5650992"/>
            <a:ext cx="1691640" cy="411480"/>
          </a:xfrm>
          <a:prstGeom prst="roundRect">
            <a:avLst>
              <a:gd name="adj" fmla="val 50000"/>
            </a:avLst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Live + duets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08 ·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Calibri"/>
              </a:rPr>
              <a:t>Pro tools live in editor apps. Creator economics live in walled gardens. We bring them together.</a:t>
            </a:r>
          </a:p>
        </p:txBody>
      </p:sp>
      <p:pic>
        <p:nvPicPr>
          <p:cNvPr id="6" name="Picture 5" descr="competitiv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410186" cy="4937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1737360"/>
            <a:ext cx="493776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B1F3A"/>
                </a:solidFill>
                <a:latin typeface="Calibri"/>
              </a:rPr>
              <a:t>What's defensible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377440"/>
            <a:ext cx="164592" cy="86868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3774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1F3A"/>
                </a:solidFill>
                <a:latin typeface="Calibri"/>
              </a:rPr>
              <a:t>Architecture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432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D"/>
                </a:solidFill>
                <a:latin typeface="Calibri"/>
              </a:rPr>
              <a:t>Clean DDD + 5 layer contracts. Adding creator features faster than incumbent monoliths.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337560"/>
            <a:ext cx="164592" cy="86868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337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1F3A"/>
                </a:solidFill>
                <a:latin typeface="Calibri"/>
              </a:rPr>
              <a:t>Editor + feed coupling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0332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D"/>
                </a:solidFill>
                <a:latin typeface="Calibri"/>
              </a:rPr>
              <a:t>Pro tools pre-installed. CapCut + TikTok with one auth, one wallet, one analytic surface.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4297680"/>
            <a:ext cx="164592" cy="86868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97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1F3A"/>
                </a:solidFill>
                <a:latin typeface="Calibri"/>
              </a:rPr>
              <a:t>Transparent algo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66344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D"/>
                </a:solidFill>
                <a:latin typeface="Calibri"/>
              </a:rPr>
              <a:t>First major platform to expose Discovery Score features. Wins creator trust = wins creators.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5257800"/>
            <a:ext cx="164592" cy="86868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2578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B1F3A"/>
                </a:solidFill>
                <a:latin typeface="Calibri"/>
              </a:rPr>
              <a:t>Solo execution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6235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55F6D"/>
                </a:solidFill>
                <a:latin typeface="Calibri"/>
              </a:rPr>
              <a:t>9–10mo to feature-complete vs. typical 18–24mo. Capital efficient.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556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Calibri"/>
              </a:rPr>
              <a:t>clipsmith · seed round ·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5566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" cy="50292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3D7F"/>
                </a:solidFill>
                <a:latin typeface="Calibri"/>
              </a:rPr>
              <a:t>09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$3.5M seed for 18 months of runway and one verified revenue ramp.</a:t>
            </a:r>
          </a:p>
        </p:txBody>
      </p:sp>
      <p:pic>
        <p:nvPicPr>
          <p:cNvPr id="6" name="Picture 5" descr="use_of_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400800" cy="53379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737360"/>
            <a:ext cx="4480560" cy="4297680"/>
          </a:xfrm>
          <a:prstGeom prst="rect">
            <a:avLst/>
          </a:prstGeom>
          <a:solidFill>
            <a:srgbClr val="18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8288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F3D7F"/>
                </a:solidFill>
                <a:latin typeface="Calibri"/>
              </a:rPr>
              <a:t>Round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Raise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$3.5M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7157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715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SAFE, post-money cap $20M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9981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Lead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099815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$1.0–1.5M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838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Use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48386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18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86791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Next milestone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86791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1M MAU @ month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Series A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2519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$3M ARR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636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Investor seats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360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1 board observer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20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ABBE"/>
                </a:solidFill>
                <a:latin typeface="Calibri"/>
              </a:rPr>
              <a:t>Founder commits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0200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100% time, 4-yr vest, 1-yr cliff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solidFill>
            <a:srgbClr val="FF3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Founder · asmeyatsky@hotmail.com · clipsmith.app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
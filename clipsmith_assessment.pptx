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B1F3A"/>
                </a:solidFill>
              </a:defRPr>
            </a:pPr>
            <a:r>
              <a:t>Clipsmith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Solo-bootstrapped TikTok-class social video platform — engineering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The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Product:</a:t>
            </a:r>
            <a:r>
              <a:rPr sz="1600">
                <a:solidFill>
                  <a:srgbClr val="555F6D"/>
                </a:solidFill>
              </a:rPr>
              <a:t>  Full-feature social video — feed, record, edit, monetize, live, AR.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Constraints:</a:t>
            </a:r>
            <a:r>
              <a:rPr sz="1600">
                <a:solidFill>
                  <a:srgbClr val="555F6D"/>
                </a:solidFill>
              </a:rPr>
              <a:t>  Solo engineer. Bootstrapped. iOS App Store target. Flexible timeline.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Method:</a:t>
            </a:r>
            <a:r>
              <a:rPr sz="1600">
                <a:solidFill>
                  <a:srgbClr val="555F6D"/>
                </a:solidFill>
              </a:rPr>
              <a:t>  9–10 month plan, 6 architectural phases, written into refactor250426.md.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Outcome:</a:t>
            </a:r>
            <a:r>
              <a:rPr sz="1600">
                <a:solidFill>
                  <a:srgbClr val="555F6D"/>
                </a:solidFill>
              </a:rPr>
              <a:t>  Phases 0–6 shipped, all CI green, ready for Phase 1.5 (TestFlight + submission).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Architecture — clean DDD with port/adapter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Layers:</a:t>
            </a:r>
            <a:r>
              <a:rPr sz="1600">
                <a:solidFill>
                  <a:srgbClr val="555F6D"/>
                </a:solidFill>
              </a:rPr>
              <a:t>  domain ← application ← infrastructure ← presentation.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Enforced:</a:t>
            </a:r>
            <a:r>
              <a:rPr sz="1600">
                <a:solidFill>
                  <a:srgbClr val="555F6D"/>
                </a:solidFill>
              </a:rPr>
              <a:t>  5 import-linter contracts in CI block layer crossings.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Stack:</a:t>
            </a:r>
            <a:r>
              <a:rPr sz="1600">
                <a:solidFill>
                  <a:srgbClr val="555F6D"/>
                </a:solidFill>
              </a:rPr>
              <a:t>  FastAPI · SQLModel · Alembic · Postgres (Neon) · Redis · RQ · Capacitor + Next.js.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Composition root:</a:t>
            </a:r>
            <a:r>
              <a:rPr sz="1600">
                <a:solidFill>
                  <a:srgbClr val="555F6D"/>
                </a:solidFill>
              </a:rPr>
              <a:t>  presentation/dependencies.py — single DI surface, exempt by design.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Code:</a:t>
            </a:r>
            <a:r>
              <a:rPr sz="1600">
                <a:solidFill>
                  <a:srgbClr val="555F6D"/>
                </a:solidFill>
              </a:rPr>
              <a:t>  ~30k LOC backend Python, ~14k LOC frontend TypeScript, 90 SQL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Phase 0–1 — foundation + social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Phase 0:</a:t>
            </a:r>
            <a:r>
              <a:rPr sz="1600">
                <a:solidFill>
                  <a:srgbClr val="555F6D"/>
                </a:solidFill>
              </a:rPr>
              <a:t>  Layer contracts, gitleaks, pip-audit, bandit, OpenTelemetry, Sentry, JSON logs.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Auth:</a:t>
            </a:r>
            <a:r>
              <a:rPr sz="1600">
                <a:solidFill>
                  <a:srgbClr val="555F6D"/>
                </a:solidFill>
              </a:rPr>
              <a:t>  Argon2id + JWT, 2FA via TOTP, email verify, COPPA-compliant age gate.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Social:</a:t>
            </a:r>
            <a:r>
              <a:rPr sz="1600">
                <a:solidFill>
                  <a:srgbClr val="555F6D"/>
                </a:solidFill>
              </a:rPr>
              <a:t>  Feed (foryou/following/trending), follows, blocks, likes, comments, hashtags.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Compliance:</a:t>
            </a:r>
            <a:r>
              <a:rPr sz="1600">
                <a:solidFill>
                  <a:srgbClr val="555F6D"/>
                </a:solidFill>
              </a:rPr>
              <a:t>  GDPR data export + delete, audit log, content moderation port + OpenAI adapter.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Frontend:</a:t>
            </a:r>
            <a:r>
              <a:rPr sz="1600">
                <a:solidFill>
                  <a:srgbClr val="555F6D"/>
                </a:solidFill>
              </a:rPr>
              <a:t>  Next.js static export, Capacitor iOS shell, mobile-first feed.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Phase 2–3 — AI suite + 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AI suite:</a:t>
            </a:r>
            <a:r>
              <a:rPr sz="1600">
                <a:solidFill>
                  <a:srgbClr val="555F6D"/>
                </a:solidFill>
              </a:rPr>
              <a:t>  Captions (AssemblyAI port), scene detect (PySceneDetect), voice enhance (RNNoise).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Editor:</a:t>
            </a:r>
            <a:r>
              <a:rPr sz="1600">
                <a:solidFill>
                  <a:srgbClr val="555F6D"/>
                </a:solidFill>
              </a:rPr>
              <a:t>  Multi-track timeline, BG removal (MediaPipe), 10 starter templates, AI-driven.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Monetization:</a:t>
            </a:r>
            <a:r>
              <a:rPr sz="1600">
                <a:solidFill>
                  <a:srgbClr val="555F6D"/>
                </a:solidFill>
              </a:rPr>
              <a:t>  Stripe Connect tipping, premium-gated content, subscription tiers.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Creator Fund:</a:t>
            </a:r>
            <a:r>
              <a:rPr sz="1600">
                <a:solidFill>
                  <a:srgbClr val="555F6D"/>
                </a:solidFill>
              </a:rPr>
              <a:t>  70/30 split, monthly payout batch task, ledger + wallet entities.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Brand marketplace:</a:t>
            </a:r>
            <a:r>
              <a:rPr sz="1600">
                <a:solidFill>
                  <a:srgbClr val="555F6D"/>
                </a:solidFill>
              </a:rPr>
              <a:t>  Profile, campaign, response endpoints scaffolded.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Phase 4–5 — live, community,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Duets:</a:t>
            </a:r>
            <a:r>
              <a:rPr sz="1600">
                <a:solidFill>
                  <a:srgbClr val="555F6D"/>
                </a:solidFill>
              </a:rPr>
              <a:t>  FFmpeg side-by-side / vstack / PiP composition, queued automatically.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Watch parties:</a:t>
            </a:r>
            <a:r>
              <a:rPr sz="1600">
                <a:solidFill>
                  <a:srgbClr val="555F6D"/>
                </a:solidFill>
              </a:rPr>
              <a:t>  WebSocket room broadcasts play/pause/seek with JWT auth.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Live streaming:</a:t>
            </a:r>
            <a:r>
              <a:rPr sz="1600">
                <a:solidFill>
                  <a:srgbClr val="555F6D"/>
                </a:solidFill>
              </a:rPr>
              <a:t>  LiveStreamPort + placeholder adapter (Mediasoup deferred to VPS day-1).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Community:</a:t>
            </a:r>
            <a:r>
              <a:rPr sz="1600">
                <a:solidFill>
                  <a:srgbClr val="555F6D"/>
                </a:solidFill>
              </a:rPr>
              <a:t>  Groups, posts, events, RSVPs, circles, polls, chapters, badges, challenges.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AR + grading:</a:t>
            </a:r>
            <a:r>
              <a:rPr sz="1600">
                <a:solidFill>
                  <a:srgbClr val="555F6D"/>
                </a:solidFill>
              </a:rPr>
              <a:t>  Effects marketplace (8 starters), 6 LUT presets, server-side chroma-key.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Phase 6 — i18n, scale,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i18n:</a:t>
            </a:r>
            <a:r>
              <a:rPr sz="1600">
                <a:solidFill>
                  <a:srgbClr val="555F6D"/>
                </a:solidFill>
              </a:rPr>
              <a:t>  EN, ES, PT, FR, DE, JA, KO bundles + locale-aware &lt;LanguageSwitcher /&gt;.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Performance:</a:t>
            </a:r>
            <a:r>
              <a:rPr sz="1600">
                <a:solidFill>
                  <a:srgbClr val="555F6D"/>
                </a:solidFill>
              </a:rPr>
              <a:t>  Feed weak-ETag → 304 short-circuit + Cache-Control: private, max-age=10.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Analytics export:</a:t>
            </a:r>
            <a:r>
              <a:rPr sz="1600">
                <a:solidFill>
                  <a:srgbClr val="555F6D"/>
                </a:solidFill>
              </a:rPr>
              <a:t>  AnalyticsExportPort + JSONL adapter; daily snapshot task.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Discovery:</a:t>
            </a:r>
            <a:r>
              <a:rPr sz="1600">
                <a:solidFill>
                  <a:srgbClr val="555F6D"/>
                </a:solidFill>
              </a:rPr>
              <a:t>  Real per-video score (virality/freshness/community/interest) — transparent.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Posting recs:</a:t>
            </a:r>
            <a:r>
              <a:rPr sz="1600">
                <a:solidFill>
                  <a:srgbClr val="555F6D"/>
                </a:solidFill>
              </a:rPr>
              <a:t>  Regression on creator's own video history, weekday × hour buckets.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Quality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Tests:</a:t>
            </a:r>
            <a:r>
              <a:rPr sz="1600">
                <a:solidFill>
                  <a:srgbClr val="555F6D"/>
                </a:solidFill>
              </a:rPr>
              <a:t>  498 unit + 10 e2e smoke + 5 layer contracts — all green on every push.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CI:</a:t>
            </a:r>
            <a:r>
              <a:rPr sz="1600">
                <a:solidFill>
                  <a:srgbClr val="555F6D"/>
                </a:solidFill>
              </a:rPr>
              <a:t>  GitHub Actions: secrets-scan, lint-imports, pytest+cov≥60, smoke, bandit, pip-audit, npm-audit≥high, docker.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Security:</a:t>
            </a:r>
            <a:r>
              <a:rPr sz="1600">
                <a:solidFill>
                  <a:srgbClr val="555F6D"/>
                </a:solidFill>
              </a:rPr>
              <a:t>  All known high/critical CVEs resolved (next, dotenv, jose, cryptography, …).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Observability:</a:t>
            </a:r>
            <a:r>
              <a:rPr sz="1600">
                <a:solidFill>
                  <a:srgbClr val="555F6D"/>
                </a:solidFill>
              </a:rPr>
              <a:t>  Correlation IDs, structlog JSON, OTel hooks, Sentry, Prometheus.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Migrations:</a:t>
            </a:r>
            <a:r>
              <a:rPr sz="1600">
                <a:solidFill>
                  <a:srgbClr val="555F6D"/>
                </a:solidFill>
              </a:rPr>
              <a:t>  Alembic single-head; tested against Postgres on Neon.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What is left after Phase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Phase 1.5 — TestFlight + App Store:</a:t>
            </a:r>
            <a:r>
              <a:rPr sz="1600">
                <a:solidFill>
                  <a:srgbClr val="555F6D"/>
                </a:solidFill>
              </a:rPr>
              <a:t>  Apple Developer setup, IAP wiring, signing, screenshots, App Review (~3 weeks).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Deferred adapters:</a:t>
            </a:r>
            <a:r>
              <a:rPr sz="1600">
                <a:solidFill>
                  <a:srgbClr val="555F6D"/>
                </a:solidFill>
              </a:rPr>
              <a:t>  Real Mediasoup SFU when VPS is provisioned. Real BigQuery exporter.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Conditional:</a:t>
            </a:r>
            <a:r>
              <a:rPr sz="1600">
                <a:solidFill>
                  <a:srgbClr val="555F6D"/>
                </a:solidFill>
              </a:rPr>
              <a:t>  Rust hot-path migration only if measured p99 &gt; 50ms.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Non-engineering risks:</a:t>
            </a:r>
            <a:r>
              <a:rPr sz="1600">
                <a:solidFill>
                  <a:srgbClr val="555F6D"/>
                </a:solidFill>
              </a:rPr>
              <a:t>  Music licensing strategy, mod contractor at DAU &gt; 500, GDPR DPAs, distribution wedge.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Out of scope:</a:t>
            </a:r>
            <a:r>
              <a:rPr sz="1600">
                <a:solidFill>
                  <a:srgbClr val="555F6D"/>
                </a:solidFill>
              </a:rPr>
              <a:t>  External pen test (do at DAU &gt; 1k or after first incident).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3A"/>
                </a:solidFill>
              </a:defRPr>
            </a:pPr>
            <a:r>
              <a:t>Top risks and decisions you 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sz="1800">
                <a:solidFill>
                  <a:srgbClr val="0B1F3A"/>
                </a:solidFill>
              </a:rPr>
              <a:t>App Review cycles:</a:t>
            </a:r>
            <a:r>
              <a:rPr sz="1600">
                <a:solidFill>
                  <a:srgbClr val="555F6D"/>
                </a:solidFill>
              </a:rPr>
              <a:t>  Budget 2–3 rejection rounds for a UGC + payments app.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Music rights:</a:t>
            </a:r>
            <a:r>
              <a:rPr sz="1600">
                <a:solidFill>
                  <a:srgbClr val="555F6D"/>
                </a:solidFill>
              </a:rPr>
              <a:t>  PRD allocated $5M/yr; we have $0. Royalty-free libraries only at launch.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Cold-start network effects:</a:t>
            </a:r>
            <a:r>
              <a:rPr sz="1600">
                <a:solidFill>
                  <a:srgbClr val="555F6D"/>
                </a:solidFill>
              </a:rPr>
              <a:t>  Engineering doesn't solve this — niche down to one creator vertical.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Solo burnout:</a:t>
            </a:r>
            <a:r>
              <a:rPr sz="1600">
                <a:solidFill>
                  <a:srgbClr val="555F6D"/>
                </a:solidFill>
              </a:rPr>
              <a:t>  Highest-probability failure mode. Take time off between phases.</a:t>
            </a:r>
          </a:p>
          <a:p>
            <a:pPr/>
            <a:r>
              <a:rPr b="1" sz="1800">
                <a:solidFill>
                  <a:srgbClr val="0B1F3A"/>
                </a:solidFill>
              </a:rPr>
              <a:t>Founder decisions due:</a:t>
            </a:r>
            <a:r>
              <a:rPr sz="1600">
                <a:solidFill>
                  <a:srgbClr val="555F6D"/>
                </a:solidFill>
              </a:rPr>
              <a:t>  App name, IAP pricing, primary domain, marketing-day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